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f697f0c014b78" /><Relationship Type="http://schemas.openxmlformats.org/officeDocument/2006/relationships/extended-properties" Target="/docProps/app.xml" Id="R8c1f9040aec74626" /><Relationship Type="http://schemas.openxmlformats.org/officeDocument/2006/relationships/officeDocument" Target="/ppt/presentation.xml" Id="R2d386ee94540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8556b2f6244986"/>
  </p:sldMasterIdLst>
  <p:notesMasterIdLst>
    <p:notesMasterId xmlns:r="http://schemas.openxmlformats.org/officeDocument/2006/relationships" r:id="R1baed4de1cbc4f48"/>
  </p:notesMasterIdLst>
  <p:sldIdLst>
    <p:sldId xmlns:r="http://schemas.openxmlformats.org/officeDocument/2006/relationships" id="256" r:id="Rcdb8813dc28344b5"/>
    <p:sldId xmlns:r="http://schemas.openxmlformats.org/officeDocument/2006/relationships" id="257" r:id="R54c367ef8e45437d"/>
    <p:sldId xmlns:r="http://schemas.openxmlformats.org/officeDocument/2006/relationships" id="258" r:id="Rf70ec0e743424f9f"/>
    <p:sldId xmlns:r="http://schemas.openxmlformats.org/officeDocument/2006/relationships" id="259" r:id="R3786441c16ed49c2"/>
    <p:sldId xmlns:r="http://schemas.openxmlformats.org/officeDocument/2006/relationships" id="260" r:id="Rd346398ef0aa4063"/>
    <p:sldId xmlns:r="http://schemas.openxmlformats.org/officeDocument/2006/relationships" id="261" r:id="R29875977b5c9477a"/>
    <p:sldId xmlns:r="http://schemas.openxmlformats.org/officeDocument/2006/relationships" id="262" r:id="R639b9569f34b49aa"/>
    <p:sldId xmlns:r="http://schemas.openxmlformats.org/officeDocument/2006/relationships" id="263" r:id="R69f1b284862a41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e231762c444c7c" /><Relationship Type="http://schemas.openxmlformats.org/officeDocument/2006/relationships/slideMaster" Target="/ppt/slideMasters/slideMaster1.xml" Id="R7f8556b2f6244986" /><Relationship Type="http://schemas.openxmlformats.org/officeDocument/2006/relationships/notesMaster" Target="/ppt/notesMasters/notesMaster1.xml" Id="R1baed4de1cbc4f48" /><Relationship Type="http://schemas.openxmlformats.org/officeDocument/2006/relationships/presProps" Target="/ppt/presProps.xml" Id="R6ddd006efd2e4f8f" /><Relationship Type="http://schemas.openxmlformats.org/officeDocument/2006/relationships/tableStyles" Target="/ppt/tableStyles.xml" Id="R439f15c11f834bba" /><Relationship Type="http://schemas.openxmlformats.org/officeDocument/2006/relationships/slide" Target="/ppt/slides/slide1.xml" Id="Rcdb8813dc28344b5" /><Relationship Type="http://schemas.openxmlformats.org/officeDocument/2006/relationships/slide" Target="/ppt/slides/slide2.xml" Id="R54c367ef8e45437d" /><Relationship Type="http://schemas.openxmlformats.org/officeDocument/2006/relationships/slide" Target="/ppt/slides/slide3.xml" Id="Rf70ec0e743424f9f" /><Relationship Type="http://schemas.openxmlformats.org/officeDocument/2006/relationships/slide" Target="/ppt/slides/slide4.xml" Id="R3786441c16ed49c2" /><Relationship Type="http://schemas.openxmlformats.org/officeDocument/2006/relationships/slide" Target="/ppt/slides/slide5.xml" Id="Rd346398ef0aa4063" /><Relationship Type="http://schemas.openxmlformats.org/officeDocument/2006/relationships/slide" Target="/ppt/slides/slide6.xml" Id="R29875977b5c9477a" /><Relationship Type="http://schemas.openxmlformats.org/officeDocument/2006/relationships/slide" Target="/ppt/slides/slide7.xml" Id="R639b9569f34b49aa" /><Relationship Type="http://schemas.openxmlformats.org/officeDocument/2006/relationships/slide" Target="/ppt/slides/slide8.xml" Id="R69f1b284862a41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b6e3c8da1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c5052daa614fed" /><Relationship Type="http://schemas.openxmlformats.org/officeDocument/2006/relationships/notesMaster" Target="/ppt/notesMasters/notesMaster1.xml" Id="R6a1ff1acfb044b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348893702041e8" /><Relationship Type="http://schemas.openxmlformats.org/officeDocument/2006/relationships/notesMaster" Target="/ppt/notesMasters/notesMaster1.xml" Id="Rdd1dfca549bf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acd3d66ee14eb7" /><Relationship Type="http://schemas.openxmlformats.org/officeDocument/2006/relationships/notesMaster" Target="/ppt/notesMasters/notesMaster1.xml" Id="R7e8c8be29e8e4e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6f1a3566464195" /><Relationship Type="http://schemas.openxmlformats.org/officeDocument/2006/relationships/notesMaster" Target="/ppt/notesMasters/notesMaster1.xml" Id="Rd2f744ac58f2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bb4d830a56497a" /><Relationship Type="http://schemas.openxmlformats.org/officeDocument/2006/relationships/notesMaster" Target="/ppt/notesMasters/notesMaster1.xml" Id="Ra1e5dccf321d48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dda12dd3a4a2b" /><Relationship Type="http://schemas.openxmlformats.org/officeDocument/2006/relationships/notesMaster" Target="/ppt/notesMasters/notesMaster1.xml" Id="R5ab6f560830544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68ce2c4d454113" /><Relationship Type="http://schemas.openxmlformats.org/officeDocument/2006/relationships/notesMaster" Target="/ppt/notesMasters/notesMaster1.xml" Id="Ra4f41ee68a004f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cb207d84524c08" /><Relationship Type="http://schemas.openxmlformats.org/officeDocument/2006/relationships/notesMaster" Target="/ppt/notesMasters/notesMaster1.xml" Id="R906a921191ae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abstract cover illustration; it is decorative and does not depict the measured server or exact GPU model. Benchmark source: local Sooktam2 project results/final_summary.json, collected 2026-09-09.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Sooktam2 project README.md and LEARNINGS.md. Diagram is a simplified, editable representation of the benchmarked inference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Sooktam2 project README.md, LEARNINGS.md, and scripts. AOTI uses true torch._export.aot_compile/aot_load; model weights remain FP32.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Sooktam2 project LEARNINGS.md. This slide summarizes implementation choices validated during the benchmark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Sooktam2 project README.md and results/final_summary.json. Results are end-to-end system measurements; they are not backend-only kernel timings.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Sooktam2 project results/final_summary.json. All values are measured end-to-end after warm-up and use the same Hindi CLS workload, NFE=32, and quality gate.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Sooktam2 project results/final_summary.json and LEARNINGS.md. Left chart uses C=1 throughput; right chart uses C=2 mean latency. Native charts are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Sooktam2 project LEARNINGS.md. Opportunity ordering is an engineering recommendation based on observed serialization, dynamic-batching behavior, and the requested L20 deployment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f84c8609149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df849da1b34408" /><Relationship Type="http://schemas.openxmlformats.org/officeDocument/2006/relationships/slideLayout" Target="/ppt/slideLayouts/slideLayout1.xml" Id="R038d051fae194a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8d051fae194a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49b59b18145ed" /><Relationship Type="http://schemas.openxmlformats.org/officeDocument/2006/relationships/image" Target="/ppt/media/image.png" Id="R45fd87251a604a34" /><Relationship Type="http://schemas.openxmlformats.org/officeDocument/2006/relationships/notesSlide" Target="/ppt/notesSlides/notesSlide1.xml" Id="R515486d60a7e48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275effcf443da" /><Relationship Type="http://schemas.openxmlformats.org/officeDocument/2006/relationships/notesSlide" Target="/ppt/notesSlides/notesSlide2.xml" Id="R4f565de64e934e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6297d8fed4c50" /><Relationship Type="http://schemas.openxmlformats.org/officeDocument/2006/relationships/notesSlide" Target="/ppt/notesSlides/notesSlide3.xml" Id="Ra5df9b50c1834a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02348014747a3" /><Relationship Type="http://schemas.openxmlformats.org/officeDocument/2006/relationships/notesSlide" Target="/ppt/notesSlides/notesSlide4.xml" Id="Rf753ffe5e92e4f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0381ccd9e4ddf" /><Relationship Type="http://schemas.openxmlformats.org/officeDocument/2006/relationships/notesSlide" Target="/ppt/notesSlides/notesSlide5.xml" Id="Rfd08c879957249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7d8c1174947a1" /><Relationship Type="http://schemas.openxmlformats.org/officeDocument/2006/relationships/notesSlide" Target="/ppt/notesSlides/notesSlide6.xml" Id="R8a35bb092c2b41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bfc1e1b324533" /><Relationship Type="http://schemas.openxmlformats.org/officeDocument/2006/relationships/chart" Target="/ppt/slides/charts/chart1.xml" Id="Rcfd28e9d3da3476a" /><Relationship Type="http://schemas.openxmlformats.org/officeDocument/2006/relationships/chart" Target="/ppt/slides/charts/chart2.xml" Id="Rec1020c34ae546cb" /><Relationship Type="http://schemas.openxmlformats.org/officeDocument/2006/relationships/notesSlide" Target="/ppt/notesSlides/notesSlide7.xml" Id="Rd9002ebcbcfe4f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ac0dba7e34a64" /><Relationship Type="http://schemas.openxmlformats.org/officeDocument/2006/relationships/notesSlide" Target="/ppt/notesSlides/notesSlide8.xml" Id="Rb0c2eeb640254dd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C=1</c:v>
          </c:tx>
          <c:spPr>
            <a:solidFill xmlns:a="http://schemas.openxmlformats.org/drawingml/2006/main">
              <a:srgbClr val="76B900"/>
            </a:solidFill>
          </c:spPr>
          <c:cat>
            <c:strRef>
              <c:f>'Chart Data'!$A$2:$A$4</c:f>
              <c:strCache>
                <c:ptCount val="3"/>
                <c:pt idx="0">
                  <c:v>HF eager</c:v>
                </c:pt>
                <c:pt idx="1">
                  <c:v>TRT-LLM + Triton</c:v>
                </c:pt>
                <c:pt idx="2">
                  <c:v>AOTI BF16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0.239</c:v>
                </c:pt>
                <c:pt idx="1">
                  <c:v>0.266</c:v>
                </c:pt>
                <c:pt idx="2">
                  <c:v>0.837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A3A3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A3A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A3A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50505"/>
        </a:solidFill>
      </c:spPr>
    </c:plotArea>
    <c:plotVisOnly val="1"/>
  </c:chart>
  <c:spPr>
    <a:solidFill xmlns:a="http://schemas.openxmlformats.org/drawingml/2006/main">
      <a:srgbClr val="050505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C=2</c:v>
          </c:tx>
          <c:spPr>
            <a:solidFill xmlns:a="http://schemas.openxmlformats.org/drawingml/2006/main">
              <a:srgbClr val="E7A84B"/>
            </a:solidFill>
          </c:spPr>
          <c:cat>
            <c:strRef>
              <c:f>'Chart Data'!$A$2:$A$4</c:f>
              <c:strCache>
                <c:ptCount val="3"/>
                <c:pt idx="0">
                  <c:v>HF eager</c:v>
                </c:pt>
                <c:pt idx="1">
                  <c:v>TRT-LLM + Triton</c:v>
                </c:pt>
                <c:pt idx="2">
                  <c:v>AOTI BF16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7.644</c:v>
                </c:pt>
                <c:pt idx="1">
                  <c:v>6.453</c:v>
                </c:pt>
                <c:pt idx="2">
                  <c:v>2.151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A3A3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A3A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A3A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50505"/>
        </a:solidFill>
      </c:spPr>
    </c:plotArea>
    <c:plotVisOnly val="1"/>
  </c:chart>
  <c:spPr>
    <a:solidFill xmlns:a="http://schemas.openxmlformats.org/drawingml/2006/main">
      <a:srgbClr val="05050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d87251a604a34"/>
          <a:srcRect xmlns:a="http://schemas.openxmlformats.org/drawingml/2006/main" l="19906" t="0" r="199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0"/>
            <a:ext cx="7334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0F59A-13F2-4BBA-A6B4-095831B4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38BC0-9CA4-4F52-A89D-030A9D9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E411A-90C3-436F-92A8-084736AA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676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E69A-634E-4106-A77E-B731120B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PERFORMANCE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C61D6-CA0B-4D56-B684-2B263279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47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Sooktam2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Inference Optimization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C8B39-D934-4857-9C8F-7684FAA2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HF eager FP32 · TensorRT-LLM + Triton · AOTI BF16 autocast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18CA4-7B96-46CD-9CB1-A475871E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B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164DF-B52B-49DD-BED7-37CF1EAC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Hindi CLS · NFE 32 · A100 80 GB PCIe</a:t>
            </a:r>
          </a:p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8 varied-length target sentences · quality-gated end-to-end 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436D5-EB5B-4702-BEFC-87DEFB92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09 SEP 2026</a:t>
            </a:r>
          </a:p>
        </p:txBody>
      </p:sp>
    </p:spTree>
    <p:extLst>
      <p:ext uri="{BB962C8B-B14F-4D97-AF65-F5344CB8AC3E}">
        <p14:creationId xmlns:p14="http://schemas.microsoft.com/office/powerpoint/2010/main" val="406603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1A5EF8-7776-4D6A-A8A6-D1BACB9C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0B6C7-2302-463C-A18B-344F0554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WHAT WAS MEASURED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CB836-FC4D-48D7-AB7A-0DB61A32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model and workload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AB59A-6A61-439A-B5A4-136D092F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C7C8E-B86D-4568-BFD8-EA2B37E8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SOOKTAM2 · OPTIMIZATION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0CF9A-877F-4658-8534-35AE0B52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02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9C733-DCE2-4D25-8747-DA9A66C4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Sooktam2 is an F5-style flow-matching TTS system: conditioning text and reference speech guide a DiT ODE, then Vocos decodes the generated mel representation.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213C0-6039-4B8D-BA1D-8A14533D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4BFB7-270C-4D9A-B18E-D65726F5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8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AA115-9A44-448D-977F-C6190518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E567F5-F353-4C5B-8F47-1E21D48A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REFERENCE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B261C-DC00-4BC3-8BB5-A84E78A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prompt audio</a:t>
            </a:r>
          </a:p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 transcript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3919B-5486-4E14-A1BE-8F87286B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956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D466B-6725-4E19-A6F9-2AD0449F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717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31056-41D6-4E89-A2A2-0C06C89B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8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AF49D-D484-44A0-A14D-7B309C3F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194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F4535-21B5-41AC-92B7-3B1D0DE9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099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99C02-B18F-45C2-AA0C-D50896B5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385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Hindi target</a:t>
            </a:r>
          </a:p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 tokenizer=cls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6939D-08EC-4F8B-83CC-878ACDB8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B3EBE-69DF-4309-9E42-C0292CAC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629247-08DD-4443-A895-D6A2698C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78E13-B145-4971-ABDE-A57FC960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308E6-38B2-401A-AED3-86B63B5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99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DiT 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1BBBA-5931-47AE-AC75-EF2C808D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385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flow matching</a:t>
            </a:r>
          </a:p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+ 32 NFE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DB9B92-94BB-45E5-B5F9-D855B157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956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3F524-43E1-4DE0-8DD1-E04A9D6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125BF9-8010-48C6-9A1A-7778654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80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42FD3-8811-4191-A8F6-F817B51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194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A72744-A753-4D34-A448-2A11445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99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VOCOS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258A21-9070-4BA5-BD7E-0FD9BE9D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385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mel → waveform</a:t>
            </a:r>
          </a:p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 decoder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E1D292-1D0A-4D24-B66B-4446B0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95625"/>
            <a:ext cx="266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D06170-EED3-4265-878A-D518817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71750"/>
            <a:ext cx="15621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1D0F8B-C831-43BB-ACE5-F4BDF452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800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E85B45-FC54-465E-BDDD-58CD97AE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194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171A38-8C8D-4CB6-8DDC-5CFE70D1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09925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BB97B7-919A-4754-942E-5217045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38525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WAV + quality</a:t>
            </a:r>
          </a:p>
          <a:p xmlns:a="http://schemas.openxmlformats.org/drawingml/2006/main">
            <a:pPr algn="l">
              <a:def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D8E67B-BD2D-449D-AE82-ACC4B9D5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4F6F37-E969-4671-B3C5-92DDD428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Precision constraint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A1A1B7-1B9F-4733-993B-179E34C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8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The DiT was trained in FP32. The TensorRT-LLM path therefore preserves an FP32 DiT; the AOTI path uses BF16 autocast while retaining FP32 model weights.</a:t>
            </a:r>
          </a:p>
        </p:txBody>
      </p:sp>
    </p:spTree>
    <p:extLst>
      <p:ext uri="{BB962C8B-B14F-4D97-AF65-F5344CB8AC3E}">
        <p14:creationId xmlns:p14="http://schemas.microsoft.com/office/powerpoint/2010/main" val="706927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D86A5D-A579-45DE-AF65-49A2906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8ABE2-3A21-4ADB-B267-97D277C1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D28A8-E053-4A7B-8EFF-08FACB38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validated execution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243B6-1706-4B81-A8C1-5051DF5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7D3E6-A4CB-47D2-BC86-97CC6E24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SOOKTAM2 · OPTIMIZATION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5D6A7-64C5-439A-9F26-F4209D95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03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21972-CEDA-4CE9-9CF0-F258F1A8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200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B8B8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76867-EA7C-4A3F-A13B-B4F1D94A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7CF11-A851-4308-B641-397C4551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HF eager FP32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65146-2507-4501-A52C-912DE95C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8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67D7E-D738-4805-AA63-1F9BE122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Python/Hugging Face reference</a:t>
            </a:r>
          </a:p>
          <a:p xmlns:a="http://schemas.openxmlformats.org/drawingml/2006/main">
            <a:pPr algn="l">
              <a:def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+full eager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7584E-C98F-4E7E-9AFC-6C7C7E03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FCE7F-8EF6-4C60-8B2B-5A506C73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200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E7A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BAC91-9BD6-4DE8-AB16-68D332DE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7A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E7A84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73056-786E-4C20-B15D-537CD952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TRT-LLM + Triton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DAA29-EE0B-4195-ADB7-9629210A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A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AC53D-BD92-4CA3-B25D-5F8FED6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FP32 DiT engine + TensorRT Vocos</a:t>
            </a:r>
          </a:p>
          <a:p xmlns:a="http://schemas.openxmlformats.org/drawingml/2006/main">
            <a:pPr algn="l">
              <a:def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+Triton client/server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7CAE1-D81B-4F1F-841B-A6AC8D0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529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7A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7A84B"/>
                </a:solidFill>
                <a:latin typeface="Helvetica Neue"/>
                <a:ea typeface="Helvetica Neue"/>
                <a:cs typeface="Helvetica Neue"/>
              </a:rPr>
              <a:t>engineed serving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F49BB-CE8B-49E1-AF19-890B813F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2004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65F11-A2A0-432A-9D50-D2DC5151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76B9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76B9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3A8D1-D6CD-43B9-A774-5582C866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AOTI BF16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53FF5-A6C8-44D4-ACCA-1A37065E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6B9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AFBDE-10D6-4791-B71A-F6E1DEE7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262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2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AOTI shared library + BF16 autocast</a:t>
            </a:r>
          </a:p>
          <a:p xmlns:a="http://schemas.openxmlformats.org/drawingml/2006/main">
            <a:pPr algn="l">
              <a:def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+HTTP server/client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DDFAF-A272-49A8-9E8B-CBFE525F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6B9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76B900"/>
                </a:solidFill>
                <a:latin typeface="Helvetica Neue"/>
                <a:ea typeface="Helvetica Neue"/>
                <a:cs typeface="Helvetica Neue"/>
              </a:rPr>
              <a:t>compiler-led serving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01164-D0F9-4118-93F4-3D11AEE1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6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All three modes use the same Hindi CLS workload and the same waveform quality gate. Only their execution boundary and numerical path differ.</a:t>
            </a:r>
          </a:p>
        </p:txBody>
      </p:sp>
    </p:spTree>
    <p:extLst>
      <p:ext uri="{BB962C8B-B14F-4D97-AF65-F5344CB8AC3E}">
        <p14:creationId xmlns:p14="http://schemas.microsoft.com/office/powerpoint/2010/main" val="776979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D33784-F637-48AC-BE0E-F22C2A1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B3E2E-0821-40B2-9D06-510978C4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HOW THE SPEEDUPS WERE OBTAINED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B0690-329F-4C75-AAD8-27A74DF0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Optimization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5B721-04FC-416A-B8CD-0F667B07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35F77-D655-4D1E-8335-FC6391F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SOOKTAM2 · OPTIMIZATION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1D7FD-B5C1-4FA8-A6AE-E05CC9C8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04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F3A1A-E4E0-445F-929C-DFC5EA6C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A1331-F805-4A5C-B45C-5631D8B6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859FC-E81B-4384-958A-81A40A7F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812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8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1A713-CB2D-46FD-B18F-AE7DF5AA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24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Establish a trustworthy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CE012-4978-48B7-ADB2-DF7E9A88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573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Fixed reference audio; eight varied Hindi sentences; one excluded warm-up; finite / non-empty / RMS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36C27-8B05-4DD1-BBB0-706E2291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64F03-E032-4072-B317-6FE9AAA7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C458D-6901-4416-8583-AD297337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677B0-A5DA-42C2-878E-92F18250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Respect the DiT precision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FCA97-8CF5-4D5A-B4A9-D3602FE7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241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Keep TensorRT-LLM DiT FP32. For AOTI, retain FP32 weights while enabling BF16 autocast and TF32.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206E3-847C-441D-B946-4F82EB74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BAA60-95A0-44A8-AF25-5AE250FA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01A06-F53A-434C-8733-37D4754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48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558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11661-DA39-440A-A4B6-77327469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Remove repeat work from the ODE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5FFD9C-3344-4340-B8A9-12A57C6A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Hoist conditional/unconditional text embeddings and RoPE outside each of the 32 solver steps.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46160-C291-4624-A6A1-0741612A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B69520-CDCD-4076-9046-7FF7EA8D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B819D1-4799-4AEF-92C8-B94014C4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deployable serving boundaries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C98BA-3F30-4E72-92BB-11D82B2C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57775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Triton BLS for the engine path; a serialized AOTI model boundary to protect sampler cache and RNG state.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2FE57-9D5D-449D-BB0E-8F8FA44B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33550"/>
            <a:ext cx="1466850" cy="28575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474397-36AF-4B1E-8141-99A70D4E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19300"/>
            <a:ext cx="104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The</a:t>
            </a:r>
          </a:p>
          <a:p xmlns:a="http://schemas.openxmlformats.org/drawingml/2006/main">
            <a:pPr algn="l">
              <a:defRPr sz="12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+operating</a:t>
            </a:r>
          </a:p>
          <a:p xmlns:a="http://schemas.openxmlformats.org/drawingml/2006/main">
            <a:pPr algn="l">
              <a:defRPr sz="12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+principle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FC5C95-F666-4A80-B62B-C9BA7A00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24200"/>
            <a:ext cx="95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7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Move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+the work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+outside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+the loop.</a:t>
            </a:r>
          </a:p>
        </p:txBody>
      </p:sp>
    </p:spTree>
    <p:extLst>
      <p:ext uri="{BB962C8B-B14F-4D97-AF65-F5344CB8AC3E}">
        <p14:creationId xmlns:p14="http://schemas.microsoft.com/office/powerpoint/2010/main" val="1598171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155F6-1E82-43B7-9CCB-688B16F4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C7E3B-42D4-4133-8C01-9459E6C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WHY THE COMPARISON IS MEANINGFUL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C712B-47E5-4F0E-841B-0E44DC5E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Benchmark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019FB-BCA4-40F2-9290-EC2E520B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16977-EB06-4B9E-B4D9-7FD130D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SOOKTAM2 · OPTIMIZATION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54F-1AF7-444E-A587-CE9611A9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05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2A877-F95F-4636-8822-B97D805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43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159FE-E044-4A7C-82B6-F9682B91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WORKLOAD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C3A9A-144C-40CF-8FC9-8E8BCB69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8 fixed, varied-length Hindi target sentences</a:t>
            </a:r>
          </a:p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+CLS tokenizer · language_code='hindi'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17CEC-43AC-47F8-8592-63636F58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19250"/>
            <a:ext cx="5143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BE897-5C0D-408D-ADAB-02C7D05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47BF9-7EE2-4A8B-AAE3-C138F76A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C=1 and C=2</a:t>
            </a:r>
          </a:p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+same job mix in every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CEC6C-BD89-40E0-8B8B-BB96C67E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143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A9C4E-7FBE-4807-BC85-B6A0A37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CD260-35F5-48A1-BFC1-C35ED768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32 NFE</a:t>
            </a:r>
          </a:p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+one warm-up request excluded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CB7D4-BDCB-4A5E-A77B-E24C57F6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5143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FFFDE-E2CB-4C69-90B1-588E9DC4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95913-040E-4A16-A913-4C01917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766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finite, non-empty, RMS ≥ 0.001</a:t>
            </a:r>
          </a:p>
          <a:p xmlns:a="http://schemas.openxmlformats.org/drawingml/2006/main">
            <a:pPr algn="l">
              <a:def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+all 8/8 outputs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FE7CA-6951-46D7-B400-B9AFAD1E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Primary 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C49BF-1247-4F5E-BB90-1F3C825C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RTF = end-to-end wall time ÷ generated audio duration   •   Throughput = completed requests/s   •   Latency = per-request mean</a:t>
            </a:r>
          </a:p>
        </p:txBody>
      </p:sp>
    </p:spTree>
    <p:extLst>
      <p:ext uri="{BB962C8B-B14F-4D97-AF65-F5344CB8AC3E}">
        <p14:creationId xmlns:p14="http://schemas.microsoft.com/office/powerpoint/2010/main" val="1062758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DA418-E628-4C24-A57E-8A0D920A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4EC24-23B7-47F2-8AF5-3343B709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MEASURED ON ONE A100 80 GB PCIE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12D5F-BBDB-4842-BC1E-DB38BAB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End-to-end performance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B6482-8077-49C4-9838-660301B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E9057-39E3-4229-8D83-8B372CEB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SOOKTAM2 · OPTIMIZATION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B3308-034B-4A5B-8080-D88F0709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06 / 08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05250"/>
                <a:gridCol w="609600"/>
                <a:gridCol w="1047750"/>
                <a:gridCol w="1428750"/>
                <a:gridCol w="1524000"/>
                <a:gridCol w="2457450"/>
              </a:tblGrid>
              <a:tr h="468086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5050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5050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5050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RTF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5050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REQ/S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5050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LATENCY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05050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76B900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HF eager FP32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0.8940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0.239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4.188 s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8/8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HF eager FP32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0.8923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0.239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7.644 s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8/8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TRT-LLM FP32 DiT + Triton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0.7552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0.266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3.722 s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8/8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TRT-LLM FP32 DiT + Triton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0.7247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0.277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6.453 s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F3F3F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8/8</a:t>
                      </a:r>
                    </a:p>
                  </a:txBody>
                  <a:tcPr marL="91440" marR="91440" marT="45720" marB="45720">
                    <a:solidFill>
                      <a:srgbClr val="171717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AOTI BF16 autocast + server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0.2547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0.837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1.189 s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8/8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</a:tr>
              <a:tr h="468086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AOTI BF16 autocast + server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0.2512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0.849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2.151 s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 8/8</a:t>
                      </a:r>
                    </a:p>
                  </a:txBody>
                  <a:tcPr marL="91440" marR="91440" marT="45720" marB="45720">
                    <a:solidFill>
                      <a:srgbClr val="3558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9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529EF-0A8C-4AE3-B0B4-2E2FDAFC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76C56-B9C0-4A5E-A2DB-0D68352A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WHAT CONCURRENCY DOES—AND DOES NOT—CHANGE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A0344-4D5B-4CD5-B8A8-AE04BC07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Throughput and latency at C=1 vs C=2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E4C70-C0D0-455F-B010-27AFEAC2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A0687-A8CF-47B4-89F3-8FB2CC0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SOOKTAM2 · OPTIMIZATION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0E929-6296-409A-A63B-A9DA712A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07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D6571-30FE-4C60-AA3B-3F85DF6F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Throughput (req/s)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516255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d28e9d3da3476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3389C-9860-41FE-977B-CC766E23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Mean latency (seconds)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381750" y="1847850"/>
          <a:ext xmlns:a="http://schemas.openxmlformats.org/drawingml/2006/main" cx="520065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1020c34ae546cb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13823-390A-443D-875B-AF53767E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76B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2F983-DDD9-4D7C-A3F4-AC3625D5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A38F7-8F1B-47E5-B6C9-A73BFDB6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C=2 increases queueing latency. Triton’s dynamic batching gives a modest gain; AOTI stays serialized for sampler-state safety, so its C=2 benefit is workload overlap rather than microbatch acceleration.</a:t>
            </a:r>
          </a:p>
        </p:txBody>
      </p:sp>
    </p:spTree>
    <p:extLst>
      <p:ext uri="{BB962C8B-B14F-4D97-AF65-F5344CB8AC3E}">
        <p14:creationId xmlns:p14="http://schemas.microsoft.com/office/powerpoint/2010/main" val="542414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0D9EB-0194-4C3D-99FD-63257E58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4C69B-5361-4587-BF14-61A3BA7E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PRIORITIZED OPPORTUNITIES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DCF9B-0148-4D91-84A2-E38E7991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Scope for the next improvement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4BCDF-910E-447A-B04C-3480BF41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AAD40-B8E4-47C0-8765-CCA20CC7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SOOKTAM2 · OPTIMIZATION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519DC-BAE5-459F-8598-932FF8FD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47700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08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275B2-4954-4E86-9738-022A1CC1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32F6A-FCBB-4342-9EC6-E2396AC0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73DC0-4986-468F-AB01-8B19137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859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True batched denoising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FC7F6-7CD0-498F-B327-20A21924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0225"/>
            <a:ext cx="750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Isolate per-request RNG and mutable sampler state, then batch compatible reference conditions. Largest expected C&gt;1 gain.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E6A92-036B-4597-B4FF-F85ED7CF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811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38502-1890-4520-B2E9-DC6745D2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00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HIGH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E21D2-00E3-4C21-869D-24C42BE1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D6A3B-1F52-448E-8B73-536DE671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69DC1-E113-4869-895B-117F12A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E601A-94E2-40C6-91DA-FB9A92A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Length-aware request batching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66783-7115-41D0-AB69-BC05628E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67025"/>
            <a:ext cx="750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Bucket reference/target lengths, cap padding, and launch compatible jobs together. Improves system utilization without changing model quality.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EEE1A-31D4-49A2-B171-A3943930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B9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C2A1D-A478-4EAF-B271-075F7785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HIGH IMPACT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9E40B-F36C-4463-9512-037B8C0C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CCB8B9-ABCC-4DFD-9EB5-FF26E22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C0CE7-50E9-42C0-A84A-F674C56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F6681-689A-4609-A08E-6A48AC2C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Stage-level Triton telemetry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A3B251-6324-4F74-93FD-DC2FBA0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750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Expose DiT, vocoder, queue, and transport timings. Turns system-level RTF into an actionable per-stage optimization budget.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D8DA9-2159-4A72-BCC4-AA51BDE9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147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84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1B1545-F623-455E-A329-2EC2D9E4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338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MEDIUM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816A42-AF35-4D8A-B829-9964B06A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148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FB4784-6C9D-41A4-BD18-56E1BA3C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A84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148FE-5053-4942-AA75-D14DB171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A9E8CE-52A6-4384-BECA-5C2920E1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L20 reproduction and engine tuning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2B0242-F4AA-40C6-83EC-796770A5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00625"/>
            <a:ext cx="750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B8B8B8"/>
                </a:solidFill>
                <a:latin typeface="Helvetica Neue"/>
                <a:ea typeface="Helvetica Neue"/>
                <a:cs typeface="Helvetica Neue"/>
              </a:rPr>
              <a:t>Rebuild profiles and test the precise target GPU. Validate FP32 DiT speed, memory headroom, and end-to-end quality again.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8D214B-6E3E-4BF7-BF75-3BA1BAA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815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A84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1D039A-A50C-4EE2-B34A-DF3CA7DA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006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050505"/>
                </a:solidFill>
                <a:latin typeface="Helvetica Neue"/>
                <a:ea typeface="Helvetica Neue"/>
                <a:cs typeface="Helvetica Neue"/>
              </a:rPr>
              <a:t>REQUIRED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2993A5-5EB1-4AA3-BB51-90FAF2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6E22E"/>
                </a:solidFill>
                <a:latin typeface="Helvetica Neue"/>
                <a:ea typeface="Helvetica Neue"/>
                <a:cs typeface="Helvetica Neue"/>
              </a:rPr>
              <a:t>Bottom 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A9CC78-E4D6-463A-8B86-C8AC51D7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6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3F3F3"/>
                </a:solidFill>
                <a:latin typeface="Helvetica Neue"/>
                <a:ea typeface="Helvetica Neue"/>
                <a:cs typeface="Helvetica Neue"/>
              </a:rPr>
              <a:t>AOTI has established the current performance lead; scalable throughput now depends on safe, genuinely batched denoising—not simply increasing client concurrency.</a:t>
            </a:r>
          </a:p>
        </p:txBody>
      </p:sp>
    </p:spTree>
    <p:extLst>
      <p:ext uri="{BB962C8B-B14F-4D97-AF65-F5344CB8AC3E}">
        <p14:creationId xmlns:p14="http://schemas.microsoft.com/office/powerpoint/2010/main" val="1217880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2026-09-09T10:49:58.2530000Z</dcterms:created>
  <dcterms:modified xsi:type="dcterms:W3CDTF">2026-09-09T10:49:58.2530000Z</dcterms:modified>
</coreProperties>
</file>